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8F461-B1B9-085A-5A5A-684691DF9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266222-A037-1F96-0053-AF506D3C18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6A060-A495-F496-E848-04A91AF10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8045-D615-499E-897E-333B0E44DB2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7FA17-19A4-F995-2144-C2B936B28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4420B-660C-55F8-A284-0184E5CD2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C105-869A-4286-ADC7-7C390646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93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72AE-1D32-E654-673A-B17325C94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38D0E-467B-0C05-6888-41B27A103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F8A46-B2D1-43DD-E6B9-832E0C9F5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8045-D615-499E-897E-333B0E44DB2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9364E-7BE5-C8A6-91D6-79388C473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AEEC0-D819-848F-D0FF-912D1A97A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C105-869A-4286-ADC7-7C390646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8946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68E5F-C5C8-8217-9581-1D7220424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57562-E1BA-EC21-4B80-461F2A5C0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45420-09C9-79B0-292C-B8DC2FCA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8045-D615-499E-897E-333B0E44DB2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E30B2-0DA0-2B4D-B4DC-900890638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B765D-A6EF-60B2-CF6E-6E9DAAF2A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C105-869A-4286-ADC7-7C390646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74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4BE4D-9039-72FE-46AB-71E0095FD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0F766-44F4-A16C-E4E4-AB00F219C0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30F3DF-D1E3-10B4-738E-59694B12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E8F48-01EE-3B78-7C74-01FC66510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8045-D615-499E-897E-333B0E44DB2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D593B0-65B9-C564-C0B7-2C09D9267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16726-4516-4258-28D9-6C599A70B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C105-869A-4286-ADC7-7C390646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29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2FA64-21B9-B1E2-B286-85637A6B6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5FACB-9120-9714-CAF8-89A02A5ED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084C8-6B49-4996-63E4-2B9AE82019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CBD59-6AD6-A8C3-397D-A6BA3B6A4E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81BAE9-9074-3FC2-1B76-BF20D93BBC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C1A1BB-8288-1F0A-020F-59AEDCB2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8045-D615-499E-897E-333B0E44DB2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00867C-9203-0C80-8F6F-EE3323973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7D020B-96E8-7616-0A83-39E68B7FB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C105-869A-4286-ADC7-7C390646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7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163DB-8A97-420B-08AB-11267BB25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5404B9-6E1B-C4F6-EFAE-1E6A70949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8045-D615-499E-897E-333B0E44DB2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B7F82D-095A-7E5D-9E37-32C0C625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FA71BF-F038-70D2-4320-99FC8FEF2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C105-869A-4286-ADC7-7C390646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96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93CDB-3675-5793-AE6E-352B36A60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8045-D615-499E-897E-333B0E44DB2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8414D3-7A9A-1D7A-7B73-2C0DA59B4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D4390-1189-08B3-3DBA-BED883D4B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C105-869A-4286-ADC7-7C390646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239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9B5B-BB18-62C7-BBAF-9D693A897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7A60D-C6F4-CF3F-622B-3211F90AC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34645A-3FAE-797F-CFD8-9E16AF918C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E8656-696F-69C7-634A-13C53EAEE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8045-D615-499E-897E-333B0E44DB2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D4BE9-CDC1-CF75-7D9B-4484075D3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29AB6-0A62-5B0D-3B54-2A9C15C1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C105-869A-4286-ADC7-7C390646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940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8BA27-173B-5588-E34F-8096B8C2E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D991C3-CF72-AEC8-81C8-6B00C1D5B7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5C2D21-6F80-2B62-2DA6-737D9E0E0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E6A3F-82C1-CE9D-3F18-208EAE8E0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8045-D615-499E-897E-333B0E44DB2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E0779-5621-D1B1-65BD-6DA9B7603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B4867-4E3D-3587-6B3C-25C84C2B0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C105-869A-4286-ADC7-7C390646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77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CD59-3A0E-4799-0D8F-D1ED09010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7C92E-70E1-BFD6-5F94-C679EC06E0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64AFE-59B6-9E29-31D4-6B2C35DE6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8045-D615-499E-897E-333B0E44DB2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9FE71-4433-5D46-121B-BF28B9BA3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F78C4-FCE0-E04B-3E5C-7366C4B29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C105-869A-4286-ADC7-7C390646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327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267ECD-2A51-614C-9052-539C30790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DA5A5D-9B18-372E-4776-78EBEBD52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ACD0C-F5CF-C3C2-E6F3-DCDE5F954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48045-D615-499E-897E-333B0E44DB2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1BB13-DBF2-09E0-54D1-FD92CD2E8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71241-DC5C-081F-109B-7425F935E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7C105-869A-4286-ADC7-7C390646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04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207FE3-3B64-B32B-C5B1-023230781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8BEA3-D600-D9BF-BBF0-0028F0E72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72FE0-E09F-C418-158B-FF79134609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48045-D615-499E-897E-333B0E44DB27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D3A14-EFBE-0EF9-F4BA-03CDC74D3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7DBA0-44BD-BC42-2C99-3CAFD88F0F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67C105-869A-4286-ADC7-7C3906461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49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A219C-C89D-CFA5-BA7C-083C21674F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KISE CLIENT NAVIGATION PATHWAYS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CC775B-B248-B1E8-3F1D-F4F041CCE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483524" cy="23875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AIM / IMPACT: </a:t>
            </a:r>
            <a:r>
              <a:rPr lang="en-GB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Children with disabilities and/or functional or educational needs are identified early, linked to and supported through appropriate play-based rehabilitative, health, and educational services, and provided with the assistive technology necessary to enhance their participation, learning, and overall development.</a:t>
            </a:r>
            <a:endParaRPr lang="en-US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946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3082F-96C3-11DA-865A-55E7E32DC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9F3658D-0D44-A986-2B89-4B379024512D}"/>
              </a:ext>
            </a:extLst>
          </p:cNvPr>
          <p:cNvSpPr/>
          <p:nvPr/>
        </p:nvSpPr>
        <p:spPr>
          <a:xfrm>
            <a:off x="142615" y="124085"/>
            <a:ext cx="3434787" cy="234063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Reception: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Never been to KISE or KISE outreach: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 &amp; Sign in (confirm service availability.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Client profile generation + Client ID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Never been to KISE, but has been to KISE outreach: Look up &amp; sign in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3303E4-D2AD-EFCE-51CA-512AB3E9ACB2}"/>
              </a:ext>
            </a:extLst>
          </p:cNvPr>
          <p:cNvSpPr/>
          <p:nvPr/>
        </p:nvSpPr>
        <p:spPr>
          <a:xfrm>
            <a:off x="3995059" y="139518"/>
            <a:ext cx="2382592" cy="138833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Triage: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Medical triage (update the client profile- triage section)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0C40B5-FFD3-65AF-12E8-7FD21F130FED}"/>
              </a:ext>
            </a:extLst>
          </p:cNvPr>
          <p:cNvSpPr/>
          <p:nvPr/>
        </p:nvSpPr>
        <p:spPr>
          <a:xfrm>
            <a:off x="7652661" y="147856"/>
            <a:ext cx="3620810" cy="20332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Intake: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Initial screening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Sign posting 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SHA/NCPWD/Insurance (confirm status, eligibility, etc. and refer to the Payment admin officer as appropriate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2D26BA-74ED-AFEF-0AF0-2C1907737C2F}"/>
              </a:ext>
            </a:extLst>
          </p:cNvPr>
          <p:cNvSpPr/>
          <p:nvPr/>
        </p:nvSpPr>
        <p:spPr>
          <a:xfrm>
            <a:off x="130078" y="3069496"/>
            <a:ext cx="3887302" cy="278729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Payments: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1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Admin: </a:t>
            </a: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Sensitization, registration/referral/recommendations, confirming payment options (NCPWD/SHA/Insurance, etc.)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1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Cashier: </a:t>
            </a: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Look up the signposted service/point and cost. Payment method, payment &amp; receipt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B3FBC9-77A3-B34D-D1EB-8039F316F291}"/>
              </a:ext>
            </a:extLst>
          </p:cNvPr>
          <p:cNvSpPr/>
          <p:nvPr/>
        </p:nvSpPr>
        <p:spPr>
          <a:xfrm>
            <a:off x="4539341" y="2963428"/>
            <a:ext cx="4245844" cy="299753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35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Service point: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135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 care: </a:t>
            </a:r>
            <a:r>
              <a:rPr lang="en-US" sz="135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Look up client profile, triaging outcome, basic bio, booking/scheduling details, payment status, service availability.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Report on service offered and not offered, and why/</a:t>
            </a:r>
          </a:p>
          <a:p>
            <a:pPr>
              <a:lnSpc>
                <a:spcPct val="150000"/>
              </a:lnSpc>
            </a:pPr>
            <a:r>
              <a:rPr lang="en-US" sz="135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b) Baseline/initial assessment per service point. Specific screening/assessment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8A964E6-01D9-E0BC-06E3-9B9A2E599B63}"/>
              </a:ext>
            </a:extLst>
          </p:cNvPr>
          <p:cNvSpPr/>
          <p:nvPr/>
        </p:nvSpPr>
        <p:spPr>
          <a:xfrm>
            <a:off x="9213448" y="2622291"/>
            <a:ext cx="2835937" cy="119254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4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Intervention </a:t>
            </a: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(assessment &amp; placement, therapeutic, clinical, AT prescription, dispensing)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38D003-2703-3D24-E454-2332A8EB738A}"/>
              </a:ext>
            </a:extLst>
          </p:cNvPr>
          <p:cNvSpPr/>
          <p:nvPr/>
        </p:nvSpPr>
        <p:spPr>
          <a:xfrm>
            <a:off x="9307146" y="4131815"/>
            <a:ext cx="2650604" cy="119254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Internal referral (Signposting, Billing, payment, admission to referred service)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ABEE8E-CEC9-598C-C5E4-64A50B2D282D}"/>
              </a:ext>
            </a:extLst>
          </p:cNvPr>
          <p:cNvSpPr txBox="1"/>
          <p:nvPr/>
        </p:nvSpPr>
        <p:spPr>
          <a:xfrm>
            <a:off x="142615" y="6094689"/>
            <a:ext cx="811385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i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Decentralize triage and billing during internal referrals &amp; admission to referred service points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500" i="1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E4A0CCE-4261-8683-837C-A69B1CD8B275}"/>
              </a:ext>
            </a:extLst>
          </p:cNvPr>
          <p:cNvSpPr/>
          <p:nvPr/>
        </p:nvSpPr>
        <p:spPr>
          <a:xfrm>
            <a:off x="9213448" y="5525942"/>
            <a:ext cx="2835936" cy="119254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External referral (school, health &amp; rehab facilities, KISE satellite centers, outreach, etc.)</a:t>
            </a:r>
          </a:p>
        </p:txBody>
      </p:sp>
      <p:sp>
        <p:nvSpPr>
          <p:cNvPr id="12" name="Arrow: Bent-Up 11">
            <a:extLst>
              <a:ext uri="{FF2B5EF4-FFF2-40B4-BE49-F238E27FC236}">
                <a16:creationId xmlns:a16="http://schemas.microsoft.com/office/drawing/2014/main" id="{B455E050-6644-EA53-C737-1A8D9181F549}"/>
              </a:ext>
            </a:extLst>
          </p:cNvPr>
          <p:cNvSpPr/>
          <p:nvPr/>
        </p:nvSpPr>
        <p:spPr>
          <a:xfrm>
            <a:off x="3710029" y="1567156"/>
            <a:ext cx="829312" cy="565477"/>
          </a:xfrm>
          <a:prstGeom prst="bentUp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4436E8E-7DE9-157C-C33C-31560D1A7D77}"/>
              </a:ext>
            </a:extLst>
          </p:cNvPr>
          <p:cNvSpPr/>
          <p:nvPr/>
        </p:nvSpPr>
        <p:spPr>
          <a:xfrm>
            <a:off x="6569531" y="833687"/>
            <a:ext cx="891250" cy="260430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FD64495-A1B8-A940-628F-C7BD36FF42DF}"/>
              </a:ext>
            </a:extLst>
          </p:cNvPr>
          <p:cNvCxnSpPr>
            <a:cxnSpLocks/>
          </p:cNvCxnSpPr>
          <p:nvPr/>
        </p:nvCxnSpPr>
        <p:spPr>
          <a:xfrm flipH="1">
            <a:off x="3214937" y="1747777"/>
            <a:ext cx="4245844" cy="119254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8099ECCC-D745-DAAD-9D74-C10FB72F39F3}"/>
              </a:ext>
            </a:extLst>
          </p:cNvPr>
          <p:cNvSpPr/>
          <p:nvPr/>
        </p:nvSpPr>
        <p:spPr>
          <a:xfrm>
            <a:off x="3832736" y="4467655"/>
            <a:ext cx="891250" cy="260430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5438800-F4EC-C28D-538D-D4E84836D2FE}"/>
              </a:ext>
            </a:extLst>
          </p:cNvPr>
          <p:cNvCxnSpPr/>
          <p:nvPr/>
        </p:nvCxnSpPr>
        <p:spPr>
          <a:xfrm flipV="1">
            <a:off x="8274483" y="3479964"/>
            <a:ext cx="920950" cy="33486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02D5AEC-8975-C6F2-A944-AA4251EE6B18}"/>
              </a:ext>
            </a:extLst>
          </p:cNvPr>
          <p:cNvCxnSpPr>
            <a:cxnSpLocks/>
          </p:cNvCxnSpPr>
          <p:nvPr/>
        </p:nvCxnSpPr>
        <p:spPr>
          <a:xfrm>
            <a:off x="8256468" y="4640414"/>
            <a:ext cx="1050678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EE424F4-001A-0F41-EDD9-303612A79510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8060352" y="5754762"/>
            <a:ext cx="1153096" cy="36745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085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A9EBD-DA20-5370-25A2-C34D670A5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5ED1F7B-AFB5-21D8-645B-20E76B292AE4}"/>
              </a:ext>
            </a:extLst>
          </p:cNvPr>
          <p:cNvSpPr/>
          <p:nvPr/>
        </p:nvSpPr>
        <p:spPr>
          <a:xfrm>
            <a:off x="142615" y="124085"/>
            <a:ext cx="3434787" cy="234063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Reception: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Never been to KISE or KISE outreach: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 &amp; Sign in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Client profile generation + Client ID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Never been to KISE or but has been to KISE outreach: Look up &amp; sign in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38E233-37D2-5BB4-9390-5FEC3A9C4FE4}"/>
              </a:ext>
            </a:extLst>
          </p:cNvPr>
          <p:cNvSpPr/>
          <p:nvPr/>
        </p:nvSpPr>
        <p:spPr>
          <a:xfrm>
            <a:off x="3995059" y="139518"/>
            <a:ext cx="2382592" cy="1388339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Triage: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Medical triage (update the client profile- triage section)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BC2129-B16C-BC04-F526-BC622FF4F7FE}"/>
              </a:ext>
            </a:extLst>
          </p:cNvPr>
          <p:cNvSpPr/>
          <p:nvPr/>
        </p:nvSpPr>
        <p:spPr>
          <a:xfrm>
            <a:off x="7941129" y="132078"/>
            <a:ext cx="3865048" cy="25710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Payments: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1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Admin: </a:t>
            </a: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Sensitization, registration/referral/recommendations, confirming payment options (NCPWD/SHA/Insurance, etc.)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14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Cashier: </a:t>
            </a: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Look up the signposted service/point and cost. Payment method, payment &amp; receipt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CA5C47-3FCF-5F2C-15E8-241FC7F0D6A3}"/>
              </a:ext>
            </a:extLst>
          </p:cNvPr>
          <p:cNvSpPr/>
          <p:nvPr/>
        </p:nvSpPr>
        <p:spPr>
          <a:xfrm>
            <a:off x="234250" y="3091098"/>
            <a:ext cx="4245844" cy="299753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35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Service point:</a:t>
            </a:r>
          </a:p>
          <a:p>
            <a:pPr marL="342900" indent="-342900">
              <a:lnSpc>
                <a:spcPct val="150000"/>
              </a:lnSpc>
              <a:buAutoNum type="alphaLcParenR"/>
            </a:pPr>
            <a:r>
              <a:rPr lang="en-US" sz="135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 care: </a:t>
            </a:r>
            <a:r>
              <a:rPr lang="en-US" sz="135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Look up client profile, triaging outcome, basic bio, booking/scheduling details, payment status, service availability.</a:t>
            </a:r>
          </a:p>
          <a:p>
            <a:pPr marL="628650" lvl="1" indent="-1714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35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Report on service offered and not offered, and why/</a:t>
            </a:r>
          </a:p>
          <a:p>
            <a:pPr>
              <a:lnSpc>
                <a:spcPct val="150000"/>
              </a:lnSpc>
            </a:pPr>
            <a:r>
              <a:rPr lang="en-US" sz="135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b) Baseline/initial assessment per service point. Specific screening/assessment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2F1B76F-0989-0717-45FA-DEB9182508BC}"/>
              </a:ext>
            </a:extLst>
          </p:cNvPr>
          <p:cNvSpPr/>
          <p:nvPr/>
        </p:nvSpPr>
        <p:spPr>
          <a:xfrm>
            <a:off x="5593327" y="2791592"/>
            <a:ext cx="2835937" cy="119254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Invention (assessment &amp; placement, therapeutic, clinical, AT prescription, dispensing)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29BAB1-98E4-3A5E-311D-A1E03908F3AB}"/>
              </a:ext>
            </a:extLst>
          </p:cNvPr>
          <p:cNvSpPr/>
          <p:nvPr/>
        </p:nvSpPr>
        <p:spPr>
          <a:xfrm>
            <a:off x="5953558" y="4107210"/>
            <a:ext cx="2650604" cy="119254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Internal referral (Signposting, Billing, payment, admission to referred service)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51870E-F478-5B8D-A66C-F529F0DB3947}"/>
              </a:ext>
            </a:extLst>
          </p:cNvPr>
          <p:cNvSpPr txBox="1"/>
          <p:nvPr/>
        </p:nvSpPr>
        <p:spPr>
          <a:xfrm>
            <a:off x="8604162" y="4195648"/>
            <a:ext cx="35026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500" i="1" dirty="0">
                <a:solidFill>
                  <a:srgbClr val="C0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Decentralize triage and billing during internal referrals &amp; admission to referred service points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500" i="1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6622DE6-F738-F74C-FF56-6C8E6E929AD5}"/>
              </a:ext>
            </a:extLst>
          </p:cNvPr>
          <p:cNvSpPr/>
          <p:nvPr/>
        </p:nvSpPr>
        <p:spPr>
          <a:xfrm>
            <a:off x="5593328" y="5507819"/>
            <a:ext cx="2835936" cy="119254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External referral (school, health &amp; rehab facilities, KISE satellite centers, outreach, etc.)</a:t>
            </a:r>
          </a:p>
        </p:txBody>
      </p:sp>
      <p:sp>
        <p:nvSpPr>
          <p:cNvPr id="12" name="Arrow: Bent-Up 11">
            <a:extLst>
              <a:ext uri="{FF2B5EF4-FFF2-40B4-BE49-F238E27FC236}">
                <a16:creationId xmlns:a16="http://schemas.microsoft.com/office/drawing/2014/main" id="{3F5C9635-7B44-6E01-623D-13187F6C3EBC}"/>
              </a:ext>
            </a:extLst>
          </p:cNvPr>
          <p:cNvSpPr/>
          <p:nvPr/>
        </p:nvSpPr>
        <p:spPr>
          <a:xfrm>
            <a:off x="3710029" y="1567156"/>
            <a:ext cx="829312" cy="565477"/>
          </a:xfrm>
          <a:prstGeom prst="bentUp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7BF6477-3E7C-BF2B-142F-19E4ABE3AC25}"/>
              </a:ext>
            </a:extLst>
          </p:cNvPr>
          <p:cNvSpPr/>
          <p:nvPr/>
        </p:nvSpPr>
        <p:spPr>
          <a:xfrm>
            <a:off x="6569531" y="833687"/>
            <a:ext cx="891250" cy="260430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7182BB7-732D-811C-07DF-E11E270A7247}"/>
              </a:ext>
            </a:extLst>
          </p:cNvPr>
          <p:cNvCxnSpPr>
            <a:cxnSpLocks/>
          </p:cNvCxnSpPr>
          <p:nvPr/>
        </p:nvCxnSpPr>
        <p:spPr>
          <a:xfrm flipH="1">
            <a:off x="3214937" y="1747777"/>
            <a:ext cx="4245844" cy="119254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26E76D8-3F2F-B068-E1D4-A35FBACA0521}"/>
              </a:ext>
            </a:extLst>
          </p:cNvPr>
          <p:cNvCxnSpPr>
            <a:cxnSpLocks/>
          </p:cNvCxnSpPr>
          <p:nvPr/>
        </p:nvCxnSpPr>
        <p:spPr>
          <a:xfrm flipV="1">
            <a:off x="4295876" y="3553428"/>
            <a:ext cx="1297451" cy="354699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A6F3D9E-4B5C-B54C-ED70-FFEDAA67A878}"/>
              </a:ext>
            </a:extLst>
          </p:cNvPr>
          <p:cNvCxnSpPr>
            <a:cxnSpLocks/>
          </p:cNvCxnSpPr>
          <p:nvPr/>
        </p:nvCxnSpPr>
        <p:spPr>
          <a:xfrm flipV="1">
            <a:off x="4124685" y="4564009"/>
            <a:ext cx="1743680" cy="1700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D4E083-C40B-BA92-E59F-436E5AA2DA27}"/>
              </a:ext>
            </a:extLst>
          </p:cNvPr>
          <p:cNvCxnSpPr>
            <a:cxnSpLocks/>
          </p:cNvCxnSpPr>
          <p:nvPr/>
        </p:nvCxnSpPr>
        <p:spPr>
          <a:xfrm>
            <a:off x="3977897" y="5277814"/>
            <a:ext cx="1462204" cy="59055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0810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496</Words>
  <Application>Microsoft Office PowerPoint</Application>
  <PresentationFormat>Widescreen</PresentationFormat>
  <Paragraphs>42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Tahoma</vt:lpstr>
      <vt:lpstr>Wingdings</vt:lpstr>
      <vt:lpstr>Office Theme</vt:lpstr>
      <vt:lpstr>KISE CLIENT NAVIGATION PATHWAYS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Mercy Wanza Wambua</dc:creator>
  <cp:lastModifiedBy>Mercy Wanza Wambua</cp:lastModifiedBy>
  <cp:revision>9</cp:revision>
  <dcterms:created xsi:type="dcterms:W3CDTF">2025-10-28T09:56:08Z</dcterms:created>
  <dcterms:modified xsi:type="dcterms:W3CDTF">2025-10-28T12:59:01Z</dcterms:modified>
</cp:coreProperties>
</file>